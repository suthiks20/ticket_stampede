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9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5942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23m150@psgitech.ac.i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B2A4A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61520" cy="54864"/>
          </a:xfrm>
          <a:prstGeom prst="rect">
            <a:avLst/>
          </a:prstGeom>
          <a:solidFill>
            <a:srgbClr val="FFB23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STAMPEDE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94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High-Concurrency Ticketing System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fault-tolerant backend that survives race conditions, database crashes, and massive traffic spikes — without losing a single ticket.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 |  Fastify  |  PostgreSQL  |  Docker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9DB129-DAAF-01AE-DE7F-2288D5FA89FE}"/>
              </a:ext>
            </a:extLst>
          </p:cNvPr>
          <p:cNvSpPr txBox="1"/>
          <p:nvPr/>
        </p:nvSpPr>
        <p:spPr>
          <a:xfrm>
            <a:off x="6624735" y="4609323"/>
            <a:ext cx="53539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SUTHIKSHAN K</a:t>
            </a:r>
          </a:p>
          <a:p>
            <a:pPr algn="r"/>
            <a:r>
              <a:rPr lang="en-IN" dirty="0">
                <a:solidFill>
                  <a:schemeClr val="bg1"/>
                </a:solidFill>
                <a:hlinkClick r:id="rId3"/>
              </a:rPr>
              <a:t>23m150@psgitech.ac.in</a:t>
            </a:r>
            <a:endParaRPr lang="en-IN" dirty="0">
              <a:solidFill>
                <a:schemeClr val="bg1"/>
              </a:solidFill>
            </a:endParaRPr>
          </a:p>
          <a:p>
            <a:pPr algn="r"/>
            <a:r>
              <a:rPr lang="en-IN" dirty="0">
                <a:solidFill>
                  <a:schemeClr val="bg1"/>
                </a:solidFill>
              </a:rPr>
              <a:t>PSG Institute Of Technology and Applied Research</a:t>
            </a:r>
          </a:p>
          <a:p>
            <a:endParaRPr lang="en-IN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this presentation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1874520"/>
            <a:ext cx="411480" cy="41148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848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concurrent ticket selling is hard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2532888"/>
            <a:ext cx="411480" cy="41148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532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Sub-Problems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the challenge into testable pieces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3191256"/>
            <a:ext cx="411480" cy="4114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1455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4015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design and tech stack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3849624"/>
            <a:ext cx="411480" cy="4114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8496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8039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599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locking, CTEs, and idempotency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4507992"/>
            <a:ext cx="411480" cy="4114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507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462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47183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correctness under extreme load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5166360"/>
            <a:ext cx="411480" cy="4114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166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554480" y="5120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Recovery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554480" y="53766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database crashes mid-sale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14400" y="5824728"/>
            <a:ext cx="411480" cy="41148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5824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554480" y="5779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55448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 and trade-offs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selling 100 concert tickets to 50,000 people in 60 seconds.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11680"/>
            <a:ext cx="73152" cy="1828800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514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users click "Buy" at the exact same millisecond. Your server must ensure: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Exactly 100 tickets are sold (not 101)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ticket goes to exactly one person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Duplicate clicks don't create duplicate tickets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system survives database crashes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2011680"/>
            <a:ext cx="73152" cy="1828800"/>
          </a:xfrm>
          <a:prstGeom prst="rect">
            <a:avLst/>
          </a:prstGeom>
          <a:solidFill>
            <a:srgbClr val="FFB23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5146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platforms like BookMyShow, IRCTC, and Swiggy face this exact problem daily. A single race condition can cause: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Revenue loss from overselling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 trust erosion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Legal liability from double-bookings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389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Question: How do you prevent two people from buying the same seat at the exact same moment?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 Chose This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" cy="2286000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Relevance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488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platform (IRCTC, BookMyShow, Zomato) solves this exact problem. It is the backbone of e-commerce.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89120" y="1645920"/>
            <a:ext cx="73152" cy="2286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Depth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488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concurrency, database design, distributed systems, failure recovery, and observability — all in one project.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64592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0" y="1645920"/>
            <a:ext cx="73152" cy="228600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Proof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14884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UI projects, backend correctness can be mathematically proven with load tests and invariant checks.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demonstrates the difference between "it works on my machine" and "it survives production."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Down the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distinct sub-problems, each requiring a different solution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5029200" cy="2011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73152" cy="2011680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Race Conditions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users grab the same ticket simultaneously. The "check-then-act" pattern fails under concurrency. Need atomic database operations.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029200" cy="2011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FFB23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Idempotency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drops after payment. User retries. System must return the same ticket, not a new one. Need request-level deduplication.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4023360"/>
            <a:ext cx="5029200" cy="2011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4023360"/>
            <a:ext cx="73152" cy="2011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Failure Recovery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4526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crashes mid-sale. In-flight transactions are interrupted. System must not lose confirmed sales or crash the server.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4023360"/>
            <a:ext cx="5029200" cy="201168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4023360"/>
            <a:ext cx="73152" cy="201168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9224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Observability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526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prove the system recovered? Need forensic tooling to analyze thousands of request attempts automatically.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Invariants (Rules That Must NEVER Break)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A2744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645920"/>
            <a:ext cx="2560320" cy="73152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Oversell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&lt;= ticket_count always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A2744"/>
          </a:solidFill>
          <a:ln/>
        </p:spPr>
      </p:sp>
      <p:sp>
        <p:nvSpPr>
          <p:cNvPr id="9" name="Shape 7"/>
          <p:cNvSpPr/>
          <p:nvPr/>
        </p:nvSpPr>
        <p:spPr>
          <a:xfrm>
            <a:off x="3566160" y="1645920"/>
            <a:ext cx="2560320" cy="73152"/>
          </a:xfrm>
          <a:prstGeom prst="rect">
            <a:avLst/>
          </a:prstGeom>
          <a:solidFill>
            <a:srgbClr val="FFB23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6616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Tickets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ticket number issued once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A274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0" y="1645920"/>
            <a:ext cx="2560320" cy="73152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request_id = same ticket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235440" y="1645920"/>
            <a:ext cx="2560320" cy="4114800"/>
          </a:xfrm>
          <a:prstGeom prst="roundRect">
            <a:avLst>
              <a:gd name="adj" fmla="val 5357"/>
            </a:avLst>
          </a:prstGeom>
          <a:solidFill>
            <a:srgbClr val="1A2744"/>
          </a:solidFill>
          <a:ln/>
        </p:spPr>
      </p:sp>
      <p:sp>
        <p:nvSpPr>
          <p:cNvPr id="19" name="Shape 17"/>
          <p:cNvSpPr/>
          <p:nvPr/>
        </p:nvSpPr>
        <p:spPr>
          <a:xfrm>
            <a:off x="9235440" y="1645920"/>
            <a:ext cx="2560320" cy="73152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35440" y="1920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Lost Sales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418320" y="31089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sales survive crashes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technology chosen for a specific reason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54480" y="2103120"/>
            <a:ext cx="914400" cy="914400"/>
          </a:xfrm>
          <a:prstGeom prst="ellipse">
            <a:avLst/>
          </a:prstGeom>
          <a:solidFill>
            <a:srgbClr val="539E4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544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I/O for 1000+ concurrent connections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182880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2103120"/>
            <a:ext cx="914400" cy="9144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8912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Fastify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2-3x faster than Express, low overhead routing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23760" y="2103120"/>
            <a:ext cx="914400" cy="914400"/>
          </a:xfrm>
          <a:prstGeom prst="ellipse">
            <a:avLst/>
          </a:prstGeom>
          <a:solidFill>
            <a:srgbClr val="33679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2376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compliance, row-level locking, partial indexes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235440" y="1828800"/>
            <a:ext cx="2560320" cy="32004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058400" y="2103120"/>
            <a:ext cx="914400" cy="914400"/>
          </a:xfrm>
          <a:prstGeom prst="ellipse">
            <a:avLst/>
          </a:prstGeom>
          <a:solidFill>
            <a:srgbClr val="2496E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2004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0" y="3657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database for reproducible kill/restart tests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2743200" cy="365760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25400">
            <a:solidFill>
              <a:srgbClr val="E8543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(Load Tester)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92608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2000 concurrent requests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10% duplicate IDs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Paced &amp; burst modes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logging (NDJSON)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Invariant verification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840480" y="3200400"/>
            <a:ext cx="1371600" cy="457200"/>
          </a:xfrm>
          <a:prstGeom prst="rightArrow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40480" y="25603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/buy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0" y="1828800"/>
            <a:ext cx="2743200" cy="365760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25400">
            <a:solidFill>
              <a:srgbClr val="1F9D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(Node.js + Fastify)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92608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/reset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/buy (CTE)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GET /status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Connection pooling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Error recovery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95360" y="3200400"/>
            <a:ext cx="1097280" cy="457200"/>
          </a:xfrm>
          <a:prstGeom prst="rightArrow">
            <a:avLst/>
          </a:prstGeom>
          <a:solidFill>
            <a:srgbClr val="33679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CTE Query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875520" y="1828800"/>
            <a:ext cx="1828800" cy="3657600"/>
          </a:xfrm>
          <a:prstGeom prst="roundRect">
            <a:avLst>
              <a:gd name="adj" fmla="val 7500"/>
            </a:avLst>
          </a:prstGeom>
          <a:solidFill>
            <a:srgbClr val="E3F2FD"/>
          </a:solidFill>
          <a:ln w="25400">
            <a:solidFill>
              <a:srgbClr val="33679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0" y="20116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(Docker)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966960" y="2926080"/>
            <a:ext cx="1645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sales table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tickets table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Row locks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Unique indexes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C04839-5C11-56B1-649F-B4A9E4C93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44" y="1492900"/>
            <a:ext cx="12117355" cy="4413381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22A76EBA-3416-3852-3A1C-5FAE7A611E95}"/>
              </a:ext>
            </a:extLst>
          </p:cNvPr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041530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 Design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5720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46888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sale_id (UUID, PK)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ticket_count (INT)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 (BOOLEAN)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 INDEX on is_active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is_active = true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0" y="182880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solidFill>
            <a:srgbClr val="33679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46888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sale_id (UUID, FK)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ticket_number (INT)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 (TEXT)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(TEXT)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PK: (sale_id, ticket_number)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UNIQUE: (sale_id, request_id)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request_id IS NOT NULL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200400"/>
            <a:ext cx="731520" cy="274320"/>
          </a:xfrm>
          <a:prstGeom prst="rightArrow">
            <a:avLst/>
          </a:prstGeom>
          <a:solidFill>
            <a:srgbClr val="6B7A99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The Naive Approach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the problem exists by building a broken system first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854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Logic (BROKEN)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(ticketsAvailable &gt; 0) {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ticket = getNextTicket();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ticketsAvailable--;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save(ticket);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173736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Sold (max 100)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961120" y="173736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9611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Ticket Numbers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10896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0080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Confirmed Sales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310896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6112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794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Invariants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155 tickets sold for 100 inventory. Only 5 unique numbers issued. Massive data corruption.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Race Condition Explained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users buy the last ticket at the exact same millisecond: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T=0ms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011680" y="20116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94560" y="20116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checks: available = 1 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0" y="20116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0" y="20116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checks: available = 1 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26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T=1ms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11680" y="29260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94560" y="29260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claims Ticket #100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29260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9260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claims Ticket #100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8404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T=2ms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011680" y="38404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9456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saves → Ticket #100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0" y="38404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0" y="3840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saves → Ticket #100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754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T=3ms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011680" y="47548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94560" y="4754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think they won!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0" y="4754880"/>
            <a:ext cx="4114800" cy="548640"/>
          </a:xfrm>
          <a:prstGeom prst="roundRect">
            <a:avLst>
              <a:gd name="adj" fmla="val 13333"/>
            </a:avLst>
          </a:prstGeom>
          <a:solidFill>
            <a:srgbClr val="1A2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4754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SOLD TWICE!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The Fix — FOR UPDATE SKIP LOCKED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row-level locking prevents race conditions at the database level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6400800" cy="2743200"/>
          </a:xfrm>
          <a:prstGeom prst="roundRect">
            <a:avLst>
              <a:gd name="adj" fmla="val 3333"/>
            </a:avLst>
          </a:prstGeom>
          <a:solidFill>
            <a:srgbClr val="F0FFF0"/>
          </a:solidFill>
          <a:ln w="19050">
            <a:solidFill>
              <a:srgbClr val="1F9D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SQL Query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tickets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user_id = $1, request_id = $2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ticket_number = (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ticket_number FROM tickets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sale_id = $3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user_id IS NULL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ticket_number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 1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UPDATE SKIP LOCKED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 ticket_number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0" y="1737360"/>
            <a:ext cx="3840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0" y="1737360"/>
            <a:ext cx="73152" cy="274320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0" y="1874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2402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UPDATE: Locks the row so no other transaction can modify it.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LOCKED: Skips rows already locked by other transactions instead of waiting.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Each concurrent request safely claims a DIFFERENT ticket.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84632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4983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Sold (exact)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484632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4983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Numbers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484632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00800" y="49834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235440" y="4846320"/>
            <a:ext cx="21945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235440" y="4983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5532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Invariants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CTE Optimization (Single-Trip Query)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3 database round trips to 1 atomic query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FF5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3 Round Trips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SELECT (idempotency)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UPDATE (claim)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SELECT (sold out check)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914400" cy="365760"/>
          </a:xfrm>
          <a:prstGeom prst="rightArrow">
            <a:avLst/>
          </a:prstGeom>
          <a:solidFill>
            <a:srgbClr val="1B2A4A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0" y="173736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0FFF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52160" y="1828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1 CTE Query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existing AS (...)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free AS (...)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claimed AS (...)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... UNION ALL 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DB Round Trips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365760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3891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Reduction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365760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0" y="3794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SQL Statement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Ramp Test — Finding the Bottleneck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how latency scales with increasing concurrency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6576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Latency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716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160.3 ms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489.7 ms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86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2834640"/>
            <a:ext cx="91440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1518.0 ms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2601.4 ms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834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371600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1852.4 ms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3101.3 ms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3383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P99 latency scales linearly with concurrency. The bottleneck is DATABASE LOCK CONTENTION, not Node.js.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10-Second Database Slowdown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the database becomes extremely slow mid-sale?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Setup: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Start paced buyer (30 seconds, 2000 requests)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At T=5s, lock the database for 10 seconds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Observe: Does the system stay correct?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164592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Locked Duration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961120" y="164592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9611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Spike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01752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703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Sold (exact)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961120" y="301752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961120" y="3154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3703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Invariants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Latency spiked massively, but correctness was NEVER compromised. The system degraded gracefully.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Database Kill Test (Extreme Resilience)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a complete database crash mid-sale using docker kill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FFF5F5"/>
          </a:solidFill>
          <a:ln w="19050">
            <a:solidFill>
              <a:srgbClr val="E854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T=0s:  Buyer starts firing 2000 requests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T=5s:  docker kill ticket-postgres-1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Database dies instantly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Seller logs 100+ connection errors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Server does NOT crash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T=10s: docker start ticket-postgres-1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Database comes back online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T=10-30s: Buyer retries recover requests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T=30s:  Test completes successfully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02920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0" y="1737360"/>
            <a:ext cx="73152" cy="320040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That Saved Us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4028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client.on("error") handlers prevent Node.js process crashes when checked-out connections drop.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client.release() in finally blocks prevent connection pool exhaustion.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CREATE TABLE IF NOT EXISTS prevents data wipe on server restart.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Buyer retry logic recovers in-flight requests automatically.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7: Automated Autopsy Tool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analysis of 13,000+ request attempts after a database crash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73152" cy="2286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Autopsy Does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240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Reads NDJSON audit log (every request attempt)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Groups by request_id, sorts by timestamp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Detects incident windows (elevated error rates)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Classifies requests into recovery categories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Cross-checks against final /status snapshot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Generates markdown incident report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0292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737360"/>
            <a:ext cx="73152" cy="228600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DB Kill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2402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Window: 21.023 seconds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First Try: 878 requests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After Retry: 121 requests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In-Doubt Resolved: 1 request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In-Doubt Unresolved: 132 requests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Sales: 0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Duration: 0.137 seconds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autopsy tool provides MATHEMATICAL PROOF that the system recovered correctly — not just "it looks fine."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Autopsy Report: Final Verdict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645920"/>
            <a:ext cx="91440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645920"/>
            <a:ext cx="73152" cy="82296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4592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16459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Oversell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6459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— sold 1000 of 1000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2743200"/>
            <a:ext cx="91440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743200"/>
            <a:ext cx="73152" cy="82296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45920" y="2743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Tickets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7432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— all unique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371600" y="3840480"/>
            <a:ext cx="91440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14" name="Shape 12"/>
          <p:cNvSpPr/>
          <p:nvPr/>
        </p:nvSpPr>
        <p:spPr>
          <a:xfrm>
            <a:off x="1371600" y="3840480"/>
            <a:ext cx="73152" cy="82296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645920" y="38404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3840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8404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— 121 retries, 0 mismatches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71600" y="4937760"/>
            <a:ext cx="91440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19" name="Shape 17"/>
          <p:cNvSpPr/>
          <p:nvPr/>
        </p:nvSpPr>
        <p:spPr>
          <a:xfrm>
            <a:off x="1371600" y="4937760"/>
            <a:ext cx="73152" cy="82296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45920" y="49377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 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Lost Sales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9377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— 0 lost confirmed sales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invariants verified across 13,244 request attempts during a live database crash.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Diagram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0" y="1645920"/>
            <a:ext cx="4572000" cy="4572000"/>
          </a:xfrm>
          <a:prstGeom prst="roundRect">
            <a:avLst>
              <a:gd name="adj" fmla="val 4000"/>
            </a:avLst>
          </a:prstGeom>
          <a:solidFill>
            <a:srgbClr val="E3F2FD"/>
          </a:solidFill>
          <a:ln w="25400">
            <a:solidFill>
              <a:srgbClr val="2496ED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704088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96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498080" y="2286000"/>
            <a:ext cx="32004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33679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2834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sales table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tickets table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Row-level locks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Partial unique indexes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0" y="4389120"/>
            <a:ext cx="32004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9050">
            <a:solidFill>
              <a:srgbClr val="FFB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0" y="4480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slow-db.js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48463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DB slowdown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pg_sleep() + LOCK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E8F5E9"/>
          </a:solidFill>
          <a:ln w="19050">
            <a:solidFill>
              <a:srgbClr val="1F9D5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1920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(Fastify)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3774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/reset, /buy, /status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CTE optimization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Connection pooling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Error recovery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3E0"/>
          </a:solidFill>
          <a:ln w="19050">
            <a:solidFill>
              <a:srgbClr val="E8543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(Load Tester)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029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2000 concurrent reqs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logging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Invariant checks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40480" y="4572000"/>
            <a:ext cx="2560320" cy="1645920"/>
          </a:xfrm>
          <a:prstGeom prst="roundRect">
            <a:avLst>
              <a:gd name="adj" fmla="val 5556"/>
            </a:avLst>
          </a:prstGeom>
          <a:solidFill>
            <a:srgbClr val="F3E5F5"/>
          </a:solidFill>
          <a:ln w="19050">
            <a:solidFill>
              <a:srgbClr val="7B1FA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4663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1F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Autopsy Tool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5029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Reads audit log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Detects incidents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Verifies invariants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0" y="2743200"/>
            <a:ext cx="3474720" cy="274320"/>
          </a:xfrm>
          <a:prstGeom prst="rightArrow">
            <a:avLst/>
          </a:prstGeom>
          <a:solidFill>
            <a:srgbClr val="1B2A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5212080"/>
            <a:ext cx="91440" cy="274320"/>
          </a:xfrm>
          <a:prstGeom prst="rightArrow">
            <a:avLst/>
          </a:prstGeom>
          <a:solidFill>
            <a:srgbClr val="6B7A99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Sold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(exact, no oversell)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566160" y="16459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6616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(during DB crash)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0" y="17830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Requests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(after DB restart)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235440" y="16459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23544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4/4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474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611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489ms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at 100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66160" y="3474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566160" y="3611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2601ms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at 500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0" y="3474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00800" y="3611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3101ms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at 1000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235440" y="3474720"/>
            <a:ext cx="21945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50800" dist="254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235440" y="3611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13K+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Request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Analyzed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4592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45920"/>
            <a:ext cx="73152" cy="1828800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&gt; Speed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1488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system that oversells is worthless. Always enforce invariants at the database level, not the application level. Application-level checks can be bypassed by concurrency.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17920" y="1645920"/>
            <a:ext cx="73152" cy="18288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9224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Everything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488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audit logging and the autopsy tool, we would have no proof that the system recovered. Observability is not optional — it is how you prove correctness.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840480"/>
            <a:ext cx="73152" cy="1828800"/>
          </a:xfrm>
          <a:prstGeom prst="rect">
            <a:avLst/>
          </a:prstGeom>
          <a:solidFill>
            <a:srgbClr val="FFB23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Gracefully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43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must NOT crash when the database dies. client.on("error") handlers and proper connection release are the difference between a 5-second outage and a 5-hour outage.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029200" cy="18288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blurRad="76200" dist="254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3840480"/>
            <a:ext cx="73152" cy="1828800"/>
          </a:xfrm>
          <a:prstGeom prst="rect">
            <a:avLst/>
          </a:prstGeom>
          <a:solidFill>
            <a:srgbClr val="1F9D5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Worst Case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343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test the happy path. Kill the database, lock the tables, send duplicate requests. The bugs that matter are the ones that happen at 2 AM on a Sunday.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Trade-Offs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engineering decision has a cost. Here are ours: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05156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 Overhead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288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+800ms median latency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828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for forensic traceability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105156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Locking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8346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spikes to 3s at 1000 concurrency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for strict correctness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105156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840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Single-Server Design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840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horizontal scaling yet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38404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Deprioritized for DB-kill deep-dive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846320"/>
            <a:ext cx="10515600" cy="822960"/>
          </a:xfrm>
          <a:prstGeom prst="roundRect">
            <a:avLst>
              <a:gd name="adj" fmla="val 11111"/>
            </a:avLst>
          </a:prstGeom>
          <a:solidFill>
            <a:srgbClr val="1A2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4846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Autopsy Recovery Duration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8463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 under retry tails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4846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via confirmed_after_retry count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0"/>
            <a:ext cx="12161520" cy="54864"/>
          </a:xfrm>
          <a:prstGeom prst="rect">
            <a:avLst/>
          </a:prstGeom>
          <a:solidFill>
            <a:srgbClr val="FFB23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STAMPEDE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B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Naive Overselling to Production-Grade Resilience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004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A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fault-tolerant ticketing system that survives database crashes, handles 1000+ concurrent requests, and provides mathematical proof of correctness through automated forensic analysis.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 |  Fastify  |  PostgreSQL  |  Docker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1993</Words>
  <Application>Microsoft Office PowerPoint</Application>
  <PresentationFormat>Widescreen</PresentationFormat>
  <Paragraphs>395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Ticket Stampede: High-Concurrency Ticketing System</dc:title>
  <dc:subject>PptxGenJS Presentation</dc:subject>
  <dc:creator>Suthikshan</dc:creator>
  <cp:lastModifiedBy>Suthikshan k</cp:lastModifiedBy>
  <cp:revision>2</cp:revision>
  <dcterms:created xsi:type="dcterms:W3CDTF">2026-09-27T05:53:06Z</dcterms:created>
  <dcterms:modified xsi:type="dcterms:W3CDTF">2026-09-27T06:02:41Z</dcterms:modified>
</cp:coreProperties>
</file>